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Roboto ExtraBold"/>
      <p:bold r:id="rId17"/>
      <p:boldItalic r:id="rId18"/>
    </p:embeddedFont>
    <p:embeddedFont>
      <p:font typeface="Roboto"/>
      <p:regular r:id="rId19"/>
      <p:bold r:id="rId20"/>
      <p:italic r:id="rId21"/>
      <p:boldItalic r:id="rId22"/>
    </p:embeddedFont>
    <p:embeddedFont>
      <p:font typeface="Inter SemiBold"/>
      <p:regular r:id="rId23"/>
      <p:bold r:id="rId24"/>
      <p:italic r:id="rId25"/>
      <p:boldItalic r:id="rId26"/>
    </p:embeddedFont>
    <p:embeddedFont>
      <p:font typeface="Roboto Medium"/>
      <p:regular r:id="rId27"/>
      <p:bold r:id="rId28"/>
      <p:italic r:id="rId29"/>
      <p:boldItalic r:id="rId30"/>
    </p:embeddedFont>
    <p:embeddedFont>
      <p:font typeface="Inter ExtraBold"/>
      <p:bold r:id="rId31"/>
      <p:boldItalic r:id="rId32"/>
    </p:embeddedFont>
    <p:embeddedFont>
      <p:font typeface="Roboto SemiBold"/>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InterSemiBold-bold.fntdata"/><Relationship Id="rId23" Type="http://schemas.openxmlformats.org/officeDocument/2006/relationships/font" Target="fonts/Inter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SemiBold-boldItalic.fntdata"/><Relationship Id="rId25" Type="http://schemas.openxmlformats.org/officeDocument/2006/relationships/font" Target="fonts/InterSemiBold-italic.fntdata"/><Relationship Id="rId28" Type="http://schemas.openxmlformats.org/officeDocument/2006/relationships/font" Target="fonts/RobotoMedium-bold.fntdata"/><Relationship Id="rId27" Type="http://schemas.openxmlformats.org/officeDocument/2006/relationships/font" Target="fonts/Roboto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edium-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ExtraBold-bold.fntdata"/><Relationship Id="rId30" Type="http://schemas.openxmlformats.org/officeDocument/2006/relationships/font" Target="fonts/RobotoMedium-boldItalic.fntdata"/><Relationship Id="rId11" Type="http://schemas.openxmlformats.org/officeDocument/2006/relationships/slide" Target="slides/slide6.xml"/><Relationship Id="rId33" Type="http://schemas.openxmlformats.org/officeDocument/2006/relationships/font" Target="fonts/RobotoSemiBold-regular.fntdata"/><Relationship Id="rId10" Type="http://schemas.openxmlformats.org/officeDocument/2006/relationships/slide" Target="slides/slide5.xml"/><Relationship Id="rId32" Type="http://schemas.openxmlformats.org/officeDocument/2006/relationships/font" Target="fonts/InterExtraBold-boldItalic.fntdata"/><Relationship Id="rId13" Type="http://schemas.openxmlformats.org/officeDocument/2006/relationships/slide" Target="slides/slide8.xml"/><Relationship Id="rId35" Type="http://schemas.openxmlformats.org/officeDocument/2006/relationships/font" Target="fonts/RobotoSemiBold-italic.fntdata"/><Relationship Id="rId12" Type="http://schemas.openxmlformats.org/officeDocument/2006/relationships/slide" Target="slides/slide7.xml"/><Relationship Id="rId34" Type="http://schemas.openxmlformats.org/officeDocument/2006/relationships/font" Target="fonts/RobotoSemiBold-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RobotoSemiBold-boldItalic.fntdata"/><Relationship Id="rId17" Type="http://schemas.openxmlformats.org/officeDocument/2006/relationships/font" Target="fonts/RobotoExtraBold-bold.fntdata"/><Relationship Id="rId16" Type="http://schemas.openxmlformats.org/officeDocument/2006/relationships/slide" Target="slides/slide11.xml"/><Relationship Id="rId19" Type="http://schemas.openxmlformats.org/officeDocument/2006/relationships/font" Target="fonts/Roboto-regular.fntdata"/><Relationship Id="rId18" Type="http://schemas.openxmlformats.org/officeDocument/2006/relationships/font" Target="fonts/RobotoExtraBol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image" Target="../media/image16.png"/><Relationship Id="rId7" Type="http://schemas.openxmlformats.org/officeDocument/2006/relationships/image" Target="../media/image22.png"/><Relationship Id="rId8"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image" Target="../media/image13.png"/><Relationship Id="rId6"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sp>
        <p:nvSpPr>
          <p:cNvPr id="84" name="Google Shape;84;p13"/>
          <p:cNvSpPr txBox="1"/>
          <p:nvPr/>
        </p:nvSpPr>
        <p:spPr>
          <a:xfrm>
            <a:off x="2315527" y="1985218"/>
            <a:ext cx="7560945" cy="1508521"/>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5400" u="none" cap="none" strike="noStrike">
                <a:solidFill>
                  <a:srgbClr val="F8FAFC"/>
                </a:solidFill>
                <a:latin typeface="Inter ExtraBold"/>
                <a:ea typeface="Inter ExtraBold"/>
                <a:cs typeface="Inter ExtraBold"/>
                <a:sym typeface="Inter ExtraBold"/>
              </a:rPr>
              <a:t>Robust Digit </a:t>
            </a:r>
            <a:br>
              <a:rPr b="0" i="0" lang="en-US" sz="1800" u="none" cap="none" strike="noStrike">
                <a:solidFill>
                  <a:schemeClr val="dk1"/>
                </a:solidFill>
                <a:latin typeface="Calibri"/>
                <a:ea typeface="Calibri"/>
                <a:cs typeface="Calibri"/>
                <a:sym typeface="Calibri"/>
              </a:rPr>
            </a:br>
            <a:r>
              <a:rPr b="0" i="0" lang="en-US" sz="5400" u="none" cap="none" strike="noStrike">
                <a:solidFill>
                  <a:srgbClr val="3B82F6"/>
                </a:solidFill>
                <a:latin typeface="Inter ExtraBold"/>
                <a:ea typeface="Inter ExtraBold"/>
                <a:cs typeface="Inter ExtraBold"/>
                <a:sym typeface="Inter ExtraBold"/>
              </a:rPr>
              <a:t>Recognition</a:t>
            </a:r>
            <a:endParaRPr/>
          </a:p>
        </p:txBody>
      </p:sp>
      <p:sp>
        <p:nvSpPr>
          <p:cNvPr id="85" name="Google Shape;85;p13"/>
          <p:cNvSpPr txBox="1"/>
          <p:nvPr/>
        </p:nvSpPr>
        <p:spPr>
          <a:xfrm>
            <a:off x="2495550" y="3106444"/>
            <a:ext cx="7200900" cy="1186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br>
              <a:rPr b="0" i="0" lang="en-US" sz="1800" u="none" cap="none" strike="noStrike">
                <a:solidFill>
                  <a:schemeClr val="dk1"/>
                </a:solidFill>
                <a:latin typeface="Calibri"/>
                <a:ea typeface="Calibri"/>
                <a:cs typeface="Calibri"/>
                <a:sym typeface="Calibri"/>
              </a:rPr>
            </a:br>
            <a:br>
              <a:rPr b="0" i="0" lang="en-US" sz="1800" u="none" cap="none" strike="noStrike">
                <a:solidFill>
                  <a:schemeClr val="dk1"/>
                </a:solidFill>
                <a:latin typeface="Calibri"/>
                <a:ea typeface="Calibri"/>
                <a:cs typeface="Calibri"/>
                <a:sym typeface="Calibri"/>
              </a:rPr>
            </a:br>
            <a:r>
              <a:rPr b="1" i="0" lang="en-US" sz="1950" u="none" cap="none" strike="noStrike">
                <a:solidFill>
                  <a:srgbClr val="94A3B8"/>
                </a:solidFill>
                <a:latin typeface="Roboto"/>
                <a:ea typeface="Roboto"/>
                <a:cs typeface="Roboto"/>
                <a:sym typeface="Roboto"/>
              </a:rPr>
              <a:t>Group 5 | EE708 Term Project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9" name="Shape 89"/>
        <p:cNvGrpSpPr/>
        <p:nvPr/>
      </p:nvGrpSpPr>
      <p:grpSpPr>
        <a:xfrm>
          <a:off x="0" y="0"/>
          <a:ext cx="0" cy="0"/>
          <a:chOff x="0" y="0"/>
          <a:chExt cx="0" cy="0"/>
        </a:xfrm>
      </p:grpSpPr>
      <p:pic>
        <p:nvPicPr>
          <p:cNvPr descr="image.png" id="90" name="Google Shape;90;p14"/>
          <p:cNvPicPr preferRelativeResize="0"/>
          <p:nvPr/>
        </p:nvPicPr>
        <p:blipFill rotWithShape="1">
          <a:blip r:embed="rId3">
            <a:alphaModFix/>
          </a:blip>
          <a:srcRect b="0" l="0" r="0" t="0"/>
          <a:stretch/>
        </p:blipFill>
        <p:spPr>
          <a:xfrm>
            <a:off x="6334125" y="1466850"/>
            <a:ext cx="5286375" cy="3810000"/>
          </a:xfrm>
          <a:prstGeom prst="rect">
            <a:avLst/>
          </a:prstGeom>
          <a:noFill/>
          <a:ln>
            <a:noFill/>
          </a:ln>
        </p:spPr>
      </p:pic>
      <p:sp>
        <p:nvSpPr>
          <p:cNvPr id="91" name="Google Shape;91;p14"/>
          <p:cNvSpPr txBox="1"/>
          <p:nvPr/>
        </p:nvSpPr>
        <p:spPr>
          <a:xfrm>
            <a:off x="571500" y="1466850"/>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Roboto"/>
                <a:ea typeface="Roboto"/>
                <a:cs typeface="Roboto"/>
                <a:sym typeface="Roboto"/>
              </a:rPr>
              <a:t>Objective:</a:t>
            </a:r>
            <a:r>
              <a:rPr b="0" i="0" lang="en-US" sz="1500" u="none" cap="none" strike="noStrike">
                <a:solidFill>
                  <a:srgbClr val="334155"/>
                </a:solidFill>
                <a:latin typeface="Roboto"/>
                <a:ea typeface="Roboto"/>
                <a:cs typeface="Roboto"/>
                <a:sym typeface="Roboto"/>
              </a:rPr>
              <a:t> Recognize spoken digits (0-9) from audio clips, evaluating performance strictly via the </a:t>
            </a:r>
            <a:r>
              <a:rPr b="1" i="0" lang="en-US" sz="1500" u="none" cap="none" strike="noStrike">
                <a:solidFill>
                  <a:srgbClr val="334155"/>
                </a:solidFill>
                <a:latin typeface="Roboto"/>
                <a:ea typeface="Roboto"/>
                <a:cs typeface="Roboto"/>
                <a:sym typeface="Roboto"/>
              </a:rPr>
              <a:t>Macro F1</a:t>
            </a:r>
            <a:r>
              <a:rPr b="0" i="0" lang="en-US" sz="1500" u="none" cap="none" strike="noStrike">
                <a:solidFill>
                  <a:srgbClr val="334155"/>
                </a:solidFill>
                <a:latin typeface="Roboto"/>
                <a:ea typeface="Roboto"/>
                <a:cs typeface="Roboto"/>
                <a:sym typeface="Roboto"/>
              </a:rPr>
              <a:t> metric.</a:t>
            </a:r>
            <a:endParaRPr/>
          </a:p>
        </p:txBody>
      </p:sp>
      <p:sp>
        <p:nvSpPr>
          <p:cNvPr id="92" name="Google Shape;92;p14"/>
          <p:cNvSpPr txBox="1"/>
          <p:nvPr/>
        </p:nvSpPr>
        <p:spPr>
          <a:xfrm>
            <a:off x="571500" y="2400300"/>
            <a:ext cx="52863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Roboto"/>
                <a:ea typeface="Roboto"/>
                <a:cs typeface="Roboto"/>
                <a:sym typeface="Roboto"/>
              </a:rPr>
              <a:t>The Core Difficulties:</a:t>
            </a:r>
            <a:endParaRPr/>
          </a:p>
        </p:txBody>
      </p:sp>
      <p:sp>
        <p:nvSpPr>
          <p:cNvPr id="93" name="Google Shape;93;p14"/>
          <p:cNvSpPr txBox="1"/>
          <p:nvPr/>
        </p:nvSpPr>
        <p:spPr>
          <a:xfrm>
            <a:off x="742950" y="2847975"/>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Roboto"/>
                <a:ea typeface="Roboto"/>
                <a:cs typeface="Roboto"/>
                <a:sym typeface="Roboto"/>
              </a:rPr>
              <a:t>•</a:t>
            </a:r>
            <a:endParaRPr/>
          </a:p>
        </p:txBody>
      </p:sp>
      <p:sp>
        <p:nvSpPr>
          <p:cNvPr id="94" name="Google Shape;94;p14"/>
          <p:cNvSpPr txBox="1"/>
          <p:nvPr/>
        </p:nvSpPr>
        <p:spPr>
          <a:xfrm>
            <a:off x="809625" y="2847975"/>
            <a:ext cx="5048250"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a:ea typeface="Roboto"/>
                <a:cs typeface="Roboto"/>
                <a:sym typeface="Roboto"/>
              </a:rPr>
              <a:t>Test data contains unseen speakers and noisy recordings.</a:t>
            </a:r>
            <a:endParaRPr/>
          </a:p>
        </p:txBody>
      </p:sp>
      <p:sp>
        <p:nvSpPr>
          <p:cNvPr id="95" name="Google Shape;95;p14"/>
          <p:cNvSpPr txBox="1"/>
          <p:nvPr/>
        </p:nvSpPr>
        <p:spPr>
          <a:xfrm>
            <a:off x="742950" y="3152775"/>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Roboto"/>
                <a:ea typeface="Roboto"/>
                <a:cs typeface="Roboto"/>
                <a:sym typeface="Roboto"/>
              </a:rPr>
              <a:t>•</a:t>
            </a:r>
            <a:endParaRPr/>
          </a:p>
        </p:txBody>
      </p:sp>
      <p:sp>
        <p:nvSpPr>
          <p:cNvPr id="96" name="Google Shape;96;p14"/>
          <p:cNvSpPr txBox="1"/>
          <p:nvPr/>
        </p:nvSpPr>
        <p:spPr>
          <a:xfrm>
            <a:off x="809625" y="3152775"/>
            <a:ext cx="5048250"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a:ea typeface="Roboto"/>
                <a:cs typeface="Roboto"/>
                <a:sym typeface="Roboto"/>
              </a:rPr>
              <a:t>Avoid overfitting to speaker identity or clean-audio artifacts.</a:t>
            </a:r>
            <a:endParaRPr/>
          </a:p>
        </p:txBody>
      </p:sp>
      <p:sp>
        <p:nvSpPr>
          <p:cNvPr id="97" name="Google Shape;97;p14"/>
          <p:cNvSpPr txBox="1"/>
          <p:nvPr/>
        </p:nvSpPr>
        <p:spPr>
          <a:xfrm>
            <a:off x="742950" y="3762375"/>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Roboto"/>
                <a:ea typeface="Roboto"/>
                <a:cs typeface="Roboto"/>
                <a:sym typeface="Roboto"/>
              </a:rPr>
              <a:t>•</a:t>
            </a:r>
            <a:endParaRPr/>
          </a:p>
        </p:txBody>
      </p:sp>
      <p:sp>
        <p:nvSpPr>
          <p:cNvPr id="98" name="Google Shape;98;p14"/>
          <p:cNvSpPr txBox="1"/>
          <p:nvPr/>
        </p:nvSpPr>
        <p:spPr>
          <a:xfrm>
            <a:off x="809625" y="3762375"/>
            <a:ext cx="5048250"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Roboto"/>
                <a:ea typeface="Roboto"/>
                <a:cs typeface="Roboto"/>
                <a:sym typeface="Roboto"/>
              </a:rPr>
              <a:t>Strict Rule:</a:t>
            </a:r>
            <a:r>
              <a:rPr b="0" i="0" lang="en-US" sz="1500" u="none" cap="none" strike="noStrike">
                <a:solidFill>
                  <a:srgbClr val="334155"/>
                </a:solidFill>
                <a:latin typeface="Roboto"/>
                <a:ea typeface="Roboto"/>
                <a:cs typeface="Roboto"/>
                <a:sym typeface="Roboto"/>
              </a:rPr>
              <a:t> No external datasets or pretrained weights allowed. The model must be trained entirely from scratch.</a:t>
            </a:r>
            <a:endParaRPr/>
          </a:p>
        </p:txBody>
      </p:sp>
      <p:pic>
        <p:nvPicPr>
          <p:cNvPr descr="image.png" id="99" name="Google Shape;99;p14"/>
          <p:cNvPicPr preferRelativeResize="0"/>
          <p:nvPr/>
        </p:nvPicPr>
        <p:blipFill rotWithShape="1">
          <a:blip r:embed="rId4">
            <a:alphaModFix/>
          </a:blip>
          <a:srcRect b="0" l="0" r="0" t="0"/>
          <a:stretch/>
        </p:blipFill>
        <p:spPr>
          <a:xfrm>
            <a:off x="6334125" y="1466850"/>
            <a:ext cx="5286375" cy="3810000"/>
          </a:xfrm>
          <a:prstGeom prst="rect">
            <a:avLst/>
          </a:prstGeom>
          <a:noFill/>
          <a:ln>
            <a:noFill/>
          </a:ln>
        </p:spPr>
      </p:pic>
      <p:sp>
        <p:nvSpPr>
          <p:cNvPr id="100" name="Google Shape;100;p14"/>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0F172A"/>
                </a:solidFill>
                <a:latin typeface="Inter ExtraBold"/>
                <a:ea typeface="Inter ExtraBold"/>
                <a:cs typeface="Inter ExtraBold"/>
                <a:sym typeface="Inter ExtraBold"/>
              </a:rPr>
              <a:t>The Challenge &amp; Constraints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4" name="Shape 104"/>
        <p:cNvGrpSpPr/>
        <p:nvPr/>
      </p:nvGrpSpPr>
      <p:grpSpPr>
        <a:xfrm>
          <a:off x="0" y="0"/>
          <a:ext cx="0" cy="0"/>
          <a:chOff x="0" y="0"/>
          <a:chExt cx="0" cy="0"/>
        </a:xfrm>
      </p:grpSpPr>
      <p:pic>
        <p:nvPicPr>
          <p:cNvPr descr="image.png" id="105" name="Google Shape;105;p15"/>
          <p:cNvPicPr preferRelativeResize="0"/>
          <p:nvPr/>
        </p:nvPicPr>
        <p:blipFill rotWithShape="1">
          <a:blip r:embed="rId3">
            <a:alphaModFix/>
          </a:blip>
          <a:srcRect b="0" l="0" r="0" t="0"/>
          <a:stretch/>
        </p:blipFill>
        <p:spPr>
          <a:xfrm>
            <a:off x="571500" y="1466850"/>
            <a:ext cx="5286375" cy="3333750"/>
          </a:xfrm>
          <a:prstGeom prst="rect">
            <a:avLst/>
          </a:prstGeom>
          <a:noFill/>
          <a:ln>
            <a:noFill/>
          </a:ln>
        </p:spPr>
      </p:pic>
      <p:pic>
        <p:nvPicPr>
          <p:cNvPr descr="image.png" id="106" name="Google Shape;106;p15"/>
          <p:cNvPicPr preferRelativeResize="0"/>
          <p:nvPr/>
        </p:nvPicPr>
        <p:blipFill rotWithShape="1">
          <a:blip r:embed="rId4">
            <a:alphaModFix/>
          </a:blip>
          <a:srcRect b="0" l="0" r="0" t="0"/>
          <a:stretch/>
        </p:blipFill>
        <p:spPr>
          <a:xfrm>
            <a:off x="6334125" y="1466850"/>
            <a:ext cx="5286375" cy="3333750"/>
          </a:xfrm>
          <a:prstGeom prst="rect">
            <a:avLst/>
          </a:prstGeom>
          <a:noFill/>
          <a:ln>
            <a:noFill/>
          </a:ln>
        </p:spPr>
      </p:pic>
      <p:sp>
        <p:nvSpPr>
          <p:cNvPr id="107" name="Google Shape;107;p15"/>
          <p:cNvSpPr txBox="1"/>
          <p:nvPr/>
        </p:nvSpPr>
        <p:spPr>
          <a:xfrm>
            <a:off x="962025" y="2038350"/>
            <a:ext cx="4730591"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3B82F6"/>
                </a:solidFill>
                <a:latin typeface="Inter SemiBold"/>
                <a:ea typeface="Inter SemiBold"/>
                <a:cs typeface="Inter SemiBold"/>
                <a:sym typeface="Inter SemiBold"/>
              </a:rPr>
              <a:t>1. Data Characteristics</a:t>
            </a:r>
            <a:endParaRPr/>
          </a:p>
        </p:txBody>
      </p:sp>
      <p:sp>
        <p:nvSpPr>
          <p:cNvPr id="108" name="Google Shape;108;p15"/>
          <p:cNvSpPr txBox="1"/>
          <p:nvPr/>
        </p:nvSpPr>
        <p:spPr>
          <a:xfrm>
            <a:off x="962025" y="2552700"/>
            <a:ext cx="4505325" cy="1533525"/>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a:ea typeface="Roboto"/>
                <a:cs typeface="Roboto"/>
                <a:sym typeface="Roboto"/>
              </a:rPr>
              <a:t>The dataset consists entirely of short .wav files. Exploratory Data Analysis revealed varying recording lengths, sampling rates, and ambient noise floors across the training set, necessitating robust standardization before feature extraction.</a:t>
            </a:r>
            <a:endParaRPr/>
          </a:p>
        </p:txBody>
      </p:sp>
      <p:sp>
        <p:nvSpPr>
          <p:cNvPr id="109" name="Google Shape;109;p15"/>
          <p:cNvSpPr txBox="1"/>
          <p:nvPr/>
        </p:nvSpPr>
        <p:spPr>
          <a:xfrm>
            <a:off x="6724650" y="1857375"/>
            <a:ext cx="4730591" cy="742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3B82F6"/>
                </a:solidFill>
                <a:latin typeface="Inter SemiBold"/>
                <a:ea typeface="Inter SemiBold"/>
                <a:cs typeface="Inter SemiBold"/>
                <a:sym typeface="Inter SemiBold"/>
              </a:rPr>
              <a:t>2. Acoustic Cues vs. Memorization</a:t>
            </a:r>
            <a:endParaRPr/>
          </a:p>
        </p:txBody>
      </p:sp>
      <p:sp>
        <p:nvSpPr>
          <p:cNvPr id="110" name="Google Shape;110;p15"/>
          <p:cNvSpPr txBox="1"/>
          <p:nvPr/>
        </p:nvSpPr>
        <p:spPr>
          <a:xfrm>
            <a:off x="6724650" y="2743200"/>
            <a:ext cx="450532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a:ea typeface="Roboto"/>
                <a:cs typeface="Roboto"/>
                <a:sym typeface="Roboto"/>
              </a:rPr>
              <a:t>Because the test set features completely unseen speakers, simple waveform memorization fails. Our EDA proved the necessity of mapping 1D waveforms into 2D spatial frequencies to isolate true digit-relevant acoustic patterns.</a:t>
            </a:r>
            <a:endParaRPr/>
          </a:p>
        </p:txBody>
      </p:sp>
      <p:sp>
        <p:nvSpPr>
          <p:cNvPr id="111" name="Google Shape;111;p15"/>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0F172A"/>
                </a:solidFill>
                <a:latin typeface="Inter ExtraBold"/>
                <a:ea typeface="Inter ExtraBold"/>
                <a:cs typeface="Inter ExtraBold"/>
                <a:sym typeface="Inter ExtraBold"/>
              </a:rPr>
              <a:t>Dataset Understanding &amp; EDA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5" name="Shape 115"/>
        <p:cNvGrpSpPr/>
        <p:nvPr/>
      </p:nvGrpSpPr>
      <p:grpSpPr>
        <a:xfrm>
          <a:off x="0" y="0"/>
          <a:ext cx="0" cy="0"/>
          <a:chOff x="0" y="0"/>
          <a:chExt cx="0" cy="0"/>
        </a:xfrm>
      </p:grpSpPr>
      <p:pic>
        <p:nvPicPr>
          <p:cNvPr descr="image.png" id="116" name="Google Shape;116;p16"/>
          <p:cNvPicPr preferRelativeResize="0"/>
          <p:nvPr/>
        </p:nvPicPr>
        <p:blipFill rotWithShape="1">
          <a:blip r:embed="rId3">
            <a:alphaModFix/>
          </a:blip>
          <a:srcRect b="0" l="0" r="0" t="0"/>
          <a:stretch/>
        </p:blipFill>
        <p:spPr>
          <a:xfrm>
            <a:off x="571500" y="1466850"/>
            <a:ext cx="3429000" cy="4048125"/>
          </a:xfrm>
          <a:prstGeom prst="rect">
            <a:avLst/>
          </a:prstGeom>
          <a:noFill/>
          <a:ln>
            <a:noFill/>
          </a:ln>
        </p:spPr>
      </p:pic>
      <p:pic>
        <p:nvPicPr>
          <p:cNvPr descr="image.png" id="117" name="Google Shape;117;p16"/>
          <p:cNvPicPr preferRelativeResize="0"/>
          <p:nvPr/>
        </p:nvPicPr>
        <p:blipFill rotWithShape="1">
          <a:blip r:embed="rId4">
            <a:alphaModFix/>
          </a:blip>
          <a:srcRect b="0" l="0" r="0" t="0"/>
          <a:stretch/>
        </p:blipFill>
        <p:spPr>
          <a:xfrm>
            <a:off x="4381500" y="1466850"/>
            <a:ext cx="3429000" cy="4048125"/>
          </a:xfrm>
          <a:prstGeom prst="rect">
            <a:avLst/>
          </a:prstGeom>
          <a:noFill/>
          <a:ln>
            <a:noFill/>
          </a:ln>
        </p:spPr>
      </p:pic>
      <p:pic>
        <p:nvPicPr>
          <p:cNvPr descr="image.png" id="118" name="Google Shape;118;p16"/>
          <p:cNvPicPr preferRelativeResize="0"/>
          <p:nvPr/>
        </p:nvPicPr>
        <p:blipFill rotWithShape="1">
          <a:blip r:embed="rId5">
            <a:alphaModFix/>
          </a:blip>
          <a:srcRect b="0" l="0" r="0" t="0"/>
          <a:stretch/>
        </p:blipFill>
        <p:spPr>
          <a:xfrm>
            <a:off x="8191500" y="1466850"/>
            <a:ext cx="3429000" cy="4048125"/>
          </a:xfrm>
          <a:prstGeom prst="rect">
            <a:avLst/>
          </a:prstGeom>
          <a:noFill/>
          <a:ln>
            <a:noFill/>
          </a:ln>
        </p:spPr>
      </p:pic>
      <p:sp>
        <p:nvSpPr>
          <p:cNvPr id="119" name="Google Shape;119;p16"/>
          <p:cNvSpPr txBox="1"/>
          <p:nvPr/>
        </p:nvSpPr>
        <p:spPr>
          <a:xfrm>
            <a:off x="866775" y="2638425"/>
            <a:ext cx="1769908"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E293B"/>
                </a:solidFill>
                <a:latin typeface="Inter SemiBold"/>
                <a:ea typeface="Inter SemiBold"/>
                <a:cs typeface="Inter SemiBold"/>
                <a:sym typeface="Inter SemiBold"/>
              </a:rPr>
              <a:t>Standardize</a:t>
            </a:r>
            <a:endParaRPr/>
          </a:p>
        </p:txBody>
      </p:sp>
      <p:sp>
        <p:nvSpPr>
          <p:cNvPr id="120" name="Google Shape;120;p16"/>
          <p:cNvSpPr txBox="1"/>
          <p:nvPr/>
        </p:nvSpPr>
        <p:spPr>
          <a:xfrm>
            <a:off x="866775" y="3152775"/>
            <a:ext cx="283845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a:ea typeface="Roboto"/>
                <a:cs typeface="Roboto"/>
                <a:sym typeface="Roboto"/>
              </a:rPr>
              <a:t>Raw audio varies wildly. We dynamically resample all clips to a uniform </a:t>
            </a:r>
            <a:r>
              <a:rPr b="1" i="0" lang="en-US" sz="1500" u="none" cap="none" strike="noStrike">
                <a:solidFill>
                  <a:srgbClr val="334155"/>
                </a:solidFill>
                <a:latin typeface="Roboto"/>
                <a:ea typeface="Roboto"/>
                <a:cs typeface="Roboto"/>
                <a:sym typeface="Roboto"/>
              </a:rPr>
              <a:t>16kHz</a:t>
            </a:r>
            <a:r>
              <a:rPr b="0" i="0" lang="en-US" sz="1500" u="none" cap="none" strike="noStrike">
                <a:solidFill>
                  <a:srgbClr val="334155"/>
                </a:solidFill>
                <a:latin typeface="Roboto"/>
                <a:ea typeface="Roboto"/>
                <a:cs typeface="Roboto"/>
                <a:sym typeface="Roboto"/>
              </a:rPr>
              <a:t>, convert stereo to mono, and pad/truncate to exactly 1-second lengths for tensor consistency.</a:t>
            </a:r>
            <a:endParaRPr/>
          </a:p>
        </p:txBody>
      </p:sp>
      <p:sp>
        <p:nvSpPr>
          <p:cNvPr id="121" name="Google Shape;121;p16"/>
          <p:cNvSpPr txBox="1"/>
          <p:nvPr/>
        </p:nvSpPr>
        <p:spPr>
          <a:xfrm>
            <a:off x="4676775" y="2638425"/>
            <a:ext cx="1542692"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E293B"/>
                </a:solidFill>
                <a:latin typeface="Inter SemiBold"/>
                <a:ea typeface="Inter SemiBold"/>
                <a:cs typeface="Inter SemiBold"/>
                <a:sym typeface="Inter SemiBold"/>
              </a:rPr>
              <a:t>Transform</a:t>
            </a:r>
            <a:endParaRPr/>
          </a:p>
        </p:txBody>
      </p:sp>
      <p:sp>
        <p:nvSpPr>
          <p:cNvPr id="122" name="Google Shape;122;p16"/>
          <p:cNvSpPr txBox="1"/>
          <p:nvPr/>
        </p:nvSpPr>
        <p:spPr>
          <a:xfrm>
            <a:off x="4676775" y="3152775"/>
            <a:ext cx="283845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a:ea typeface="Roboto"/>
                <a:cs typeface="Roboto"/>
                <a:sym typeface="Roboto"/>
              </a:rPr>
              <a:t>We utilize Torchaudio to map the 1D waveforms into 2D </a:t>
            </a:r>
            <a:r>
              <a:rPr b="1" i="0" lang="en-US" sz="1500" u="none" cap="none" strike="noStrike">
                <a:solidFill>
                  <a:srgbClr val="334155"/>
                </a:solidFill>
                <a:latin typeface="Roboto"/>
                <a:ea typeface="Roboto"/>
                <a:cs typeface="Roboto"/>
                <a:sym typeface="Roboto"/>
              </a:rPr>
              <a:t>Mel Spectrograms</a:t>
            </a:r>
            <a:r>
              <a:rPr b="0" i="0" lang="en-US" sz="1500" u="none" cap="none" strike="noStrike">
                <a:solidFill>
                  <a:srgbClr val="334155"/>
                </a:solidFill>
                <a:latin typeface="Roboto"/>
                <a:ea typeface="Roboto"/>
                <a:cs typeface="Roboto"/>
                <a:sym typeface="Roboto"/>
              </a:rPr>
              <a:t>, capturing frequency intensity over time to feed visual features into our network.</a:t>
            </a:r>
            <a:endParaRPr/>
          </a:p>
        </p:txBody>
      </p:sp>
      <p:sp>
        <p:nvSpPr>
          <p:cNvPr id="123" name="Google Shape;123;p16"/>
          <p:cNvSpPr txBox="1"/>
          <p:nvPr/>
        </p:nvSpPr>
        <p:spPr>
          <a:xfrm>
            <a:off x="8486775" y="2638425"/>
            <a:ext cx="818227"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E293B"/>
                </a:solidFill>
                <a:latin typeface="Inter SemiBold"/>
                <a:ea typeface="Inter SemiBold"/>
                <a:cs typeface="Inter SemiBold"/>
                <a:sym typeface="Inter SemiBold"/>
              </a:rPr>
              <a:t>Scale</a:t>
            </a:r>
            <a:endParaRPr/>
          </a:p>
        </p:txBody>
      </p:sp>
      <p:sp>
        <p:nvSpPr>
          <p:cNvPr id="124" name="Google Shape;124;p16"/>
          <p:cNvSpPr txBox="1"/>
          <p:nvPr/>
        </p:nvSpPr>
        <p:spPr>
          <a:xfrm>
            <a:off x="8486775" y="3152775"/>
            <a:ext cx="2838450" cy="1828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a:ea typeface="Roboto"/>
                <a:cs typeface="Roboto"/>
                <a:sym typeface="Roboto"/>
              </a:rPr>
              <a:t>We apply an </a:t>
            </a:r>
            <a:r>
              <a:rPr b="1" i="0" lang="en-US" sz="1500" u="none" cap="none" strike="noStrike">
                <a:solidFill>
                  <a:srgbClr val="334155"/>
                </a:solidFill>
                <a:latin typeface="Roboto"/>
                <a:ea typeface="Roboto"/>
                <a:cs typeface="Roboto"/>
                <a:sym typeface="Roboto"/>
              </a:rPr>
              <a:t>Amplitude-to-DB</a:t>
            </a:r>
            <a:r>
              <a:rPr b="0" i="0" lang="en-US" sz="1500" u="none" cap="none" strike="noStrike">
                <a:solidFill>
                  <a:srgbClr val="334155"/>
                </a:solidFill>
                <a:latin typeface="Roboto"/>
                <a:ea typeface="Roboto"/>
                <a:cs typeface="Roboto"/>
                <a:sym typeface="Roboto"/>
              </a:rPr>
              <a:t> conversion, scaling the spectrogram logarithmically. This perfectly mirrors human auditory perception and stabilizes CNN gradient flow.</a:t>
            </a:r>
            <a:endParaRPr/>
          </a:p>
        </p:txBody>
      </p:sp>
      <p:pic>
        <p:nvPicPr>
          <p:cNvPr descr="image.png" id="125" name="Google Shape;125;p16"/>
          <p:cNvPicPr preferRelativeResize="0"/>
          <p:nvPr/>
        </p:nvPicPr>
        <p:blipFill rotWithShape="1">
          <a:blip r:embed="rId6">
            <a:alphaModFix/>
          </a:blip>
          <a:srcRect b="0" l="0" r="0" t="0"/>
          <a:stretch/>
        </p:blipFill>
        <p:spPr>
          <a:xfrm>
            <a:off x="866775" y="1885950"/>
            <a:ext cx="571500" cy="457200"/>
          </a:xfrm>
          <a:prstGeom prst="rect">
            <a:avLst/>
          </a:prstGeom>
          <a:noFill/>
          <a:ln>
            <a:noFill/>
          </a:ln>
        </p:spPr>
      </p:pic>
      <p:pic>
        <p:nvPicPr>
          <p:cNvPr descr="image.png" id="126" name="Google Shape;126;p16"/>
          <p:cNvPicPr preferRelativeResize="0"/>
          <p:nvPr/>
        </p:nvPicPr>
        <p:blipFill rotWithShape="1">
          <a:blip r:embed="rId7">
            <a:alphaModFix/>
          </a:blip>
          <a:srcRect b="0" l="0" r="0" t="0"/>
          <a:stretch/>
        </p:blipFill>
        <p:spPr>
          <a:xfrm>
            <a:off x="4676775" y="1885950"/>
            <a:ext cx="457200" cy="457200"/>
          </a:xfrm>
          <a:prstGeom prst="rect">
            <a:avLst/>
          </a:prstGeom>
          <a:noFill/>
          <a:ln>
            <a:noFill/>
          </a:ln>
        </p:spPr>
      </p:pic>
      <p:pic>
        <p:nvPicPr>
          <p:cNvPr descr="image.png" id="127" name="Google Shape;127;p16"/>
          <p:cNvPicPr preferRelativeResize="0"/>
          <p:nvPr/>
        </p:nvPicPr>
        <p:blipFill rotWithShape="1">
          <a:blip r:embed="rId8">
            <a:alphaModFix/>
          </a:blip>
          <a:srcRect b="0" l="0" r="0" t="0"/>
          <a:stretch/>
        </p:blipFill>
        <p:spPr>
          <a:xfrm>
            <a:off x="8486775" y="1885950"/>
            <a:ext cx="457200" cy="457200"/>
          </a:xfrm>
          <a:prstGeom prst="rect">
            <a:avLst/>
          </a:prstGeom>
          <a:noFill/>
          <a:ln>
            <a:noFill/>
          </a:ln>
        </p:spPr>
      </p:pic>
      <p:sp>
        <p:nvSpPr>
          <p:cNvPr id="128" name="Google Shape;128;p16"/>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0F172A"/>
                </a:solidFill>
                <a:latin typeface="Inter ExtraBold"/>
                <a:ea typeface="Inter ExtraBold"/>
                <a:cs typeface="Inter ExtraBold"/>
                <a:sym typeface="Inter ExtraBold"/>
              </a:rPr>
              <a:t>Audio Preprocessing Pipeline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2" name="Shape 132"/>
        <p:cNvGrpSpPr/>
        <p:nvPr/>
      </p:nvGrpSpPr>
      <p:grpSpPr>
        <a:xfrm>
          <a:off x="0" y="0"/>
          <a:ext cx="0" cy="0"/>
          <a:chOff x="0" y="0"/>
          <a:chExt cx="0" cy="0"/>
        </a:xfrm>
      </p:grpSpPr>
      <p:sp>
        <p:nvSpPr>
          <p:cNvPr id="133" name="Google Shape;133;p17"/>
          <p:cNvSpPr txBox="1"/>
          <p:nvPr/>
        </p:nvSpPr>
        <p:spPr>
          <a:xfrm>
            <a:off x="571500" y="571500"/>
            <a:ext cx="5550693"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0F172A"/>
                </a:solidFill>
                <a:latin typeface="Inter ExtraBold"/>
                <a:ea typeface="Inter ExtraBold"/>
                <a:cs typeface="Inter ExtraBold"/>
                <a:sym typeface="Inter ExtraBold"/>
              </a:rPr>
              <a:t>Robust Augmentation</a:t>
            </a:r>
            <a:endParaRPr/>
          </a:p>
        </p:txBody>
      </p:sp>
      <p:pic>
        <p:nvPicPr>
          <p:cNvPr descr="image.png" id="134" name="Google Shape;134;p17"/>
          <p:cNvPicPr preferRelativeResize="0"/>
          <p:nvPr/>
        </p:nvPicPr>
        <p:blipFill rotWithShape="1">
          <a:blip r:embed="rId3">
            <a:alphaModFix/>
          </a:blip>
          <a:srcRect b="0" l="0" r="0" t="0"/>
          <a:stretch/>
        </p:blipFill>
        <p:spPr>
          <a:xfrm>
            <a:off x="6334125" y="0"/>
            <a:ext cx="5857875" cy="6858000"/>
          </a:xfrm>
          <a:prstGeom prst="rect">
            <a:avLst/>
          </a:prstGeom>
          <a:noFill/>
          <a:ln>
            <a:noFill/>
          </a:ln>
        </p:spPr>
      </p:pic>
      <p:sp>
        <p:nvSpPr>
          <p:cNvPr id="135" name="Google Shape;135;p17"/>
          <p:cNvSpPr txBox="1"/>
          <p:nvPr/>
        </p:nvSpPr>
        <p:spPr>
          <a:xfrm>
            <a:off x="571500" y="1371600"/>
            <a:ext cx="5550693"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3B82F6"/>
                </a:solidFill>
                <a:latin typeface="Inter SemiBold"/>
                <a:ea typeface="Inter SemiBold"/>
                <a:cs typeface="Inter SemiBold"/>
                <a:sym typeface="Inter SemiBold"/>
              </a:rPr>
              <a:t>Preventing Overfitting</a:t>
            </a:r>
            <a:endParaRPr/>
          </a:p>
        </p:txBody>
      </p:sp>
      <p:sp>
        <p:nvSpPr>
          <p:cNvPr id="136" name="Google Shape;136;p17"/>
          <p:cNvSpPr txBox="1"/>
          <p:nvPr/>
        </p:nvSpPr>
        <p:spPr>
          <a:xfrm>
            <a:off x="571500" y="1885950"/>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a:ea typeface="Roboto"/>
                <a:cs typeface="Roboto"/>
                <a:sym typeface="Roboto"/>
              </a:rPr>
              <a:t>Because external data is prohibited, we must mathematically manipulate our existing training set so the model never memorizes specific voices.</a:t>
            </a:r>
            <a:endParaRPr/>
          </a:p>
        </p:txBody>
      </p:sp>
      <p:sp>
        <p:nvSpPr>
          <p:cNvPr id="137" name="Google Shape;137;p17"/>
          <p:cNvSpPr txBox="1"/>
          <p:nvPr/>
        </p:nvSpPr>
        <p:spPr>
          <a:xfrm>
            <a:off x="571500" y="2943225"/>
            <a:ext cx="528637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a:ea typeface="Roboto"/>
                <a:cs typeface="Roboto"/>
                <a:sym typeface="Roboto"/>
              </a:rPr>
              <a:t>We implemented </a:t>
            </a:r>
            <a:r>
              <a:rPr b="1" i="0" lang="en-US" sz="1500" u="none" cap="none" strike="noStrike">
                <a:solidFill>
                  <a:srgbClr val="334155"/>
                </a:solidFill>
                <a:latin typeface="Roboto"/>
                <a:ea typeface="Roboto"/>
                <a:cs typeface="Roboto"/>
                <a:sym typeface="Roboto"/>
              </a:rPr>
              <a:t>SpecAugment</a:t>
            </a:r>
            <a:r>
              <a:rPr b="0" i="0" lang="en-US" sz="1500" u="none" cap="none" strike="noStrike">
                <a:solidFill>
                  <a:srgbClr val="334155"/>
                </a:solidFill>
                <a:latin typeface="Roboto"/>
                <a:ea typeface="Roboto"/>
                <a:cs typeface="Roboto"/>
                <a:sym typeface="Roboto"/>
              </a:rPr>
              <a:t>, which dynamically applies random Time Masking and Frequency Masking directly to the Mel Spectrograms during the training loop. This forces the network to learn robust, generalized digit features rather than relying on specific audio frequencies.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1" name="Shape 141"/>
        <p:cNvGrpSpPr/>
        <p:nvPr/>
      </p:nvGrpSpPr>
      <p:grpSpPr>
        <a:xfrm>
          <a:off x="0" y="0"/>
          <a:ext cx="0" cy="0"/>
          <a:chOff x="0" y="0"/>
          <a:chExt cx="0" cy="0"/>
        </a:xfrm>
      </p:grpSpPr>
      <p:pic>
        <p:nvPicPr>
          <p:cNvPr descr="image.png" id="142" name="Google Shape;142;p18"/>
          <p:cNvPicPr preferRelativeResize="0"/>
          <p:nvPr/>
        </p:nvPicPr>
        <p:blipFill rotWithShape="1">
          <a:blip r:embed="rId3">
            <a:alphaModFix/>
          </a:blip>
          <a:srcRect b="0" l="0" r="0" t="0"/>
          <a:stretch/>
        </p:blipFill>
        <p:spPr>
          <a:xfrm>
            <a:off x="6334125" y="1466850"/>
            <a:ext cx="5286375" cy="3810000"/>
          </a:xfrm>
          <a:prstGeom prst="rect">
            <a:avLst/>
          </a:prstGeom>
          <a:noFill/>
          <a:ln>
            <a:noFill/>
          </a:ln>
        </p:spPr>
      </p:pic>
      <p:sp>
        <p:nvSpPr>
          <p:cNvPr id="143" name="Google Shape;143;p18"/>
          <p:cNvSpPr txBox="1"/>
          <p:nvPr/>
        </p:nvSpPr>
        <p:spPr>
          <a:xfrm>
            <a:off x="571500" y="1466850"/>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a:ea typeface="Roboto"/>
                <a:cs typeface="Roboto"/>
                <a:sym typeface="Roboto"/>
              </a:rPr>
              <a:t>We bypassed simple sequential CNNs to engineer a custom </a:t>
            </a:r>
            <a:r>
              <a:rPr b="1" i="0" lang="en-US" sz="1500" u="none" cap="none" strike="noStrike">
                <a:solidFill>
                  <a:srgbClr val="334155"/>
                </a:solidFill>
                <a:latin typeface="Roboto"/>
                <a:ea typeface="Roboto"/>
                <a:cs typeface="Roboto"/>
                <a:sym typeface="Roboto"/>
              </a:rPr>
              <a:t>Residual Network (ResNet)</a:t>
            </a:r>
            <a:r>
              <a:rPr b="0" i="0" lang="en-US" sz="1500" u="none" cap="none" strike="noStrike">
                <a:solidFill>
                  <a:srgbClr val="334155"/>
                </a:solidFill>
                <a:latin typeface="Roboto"/>
                <a:ea typeface="Roboto"/>
                <a:cs typeface="Roboto"/>
                <a:sym typeface="Roboto"/>
              </a:rPr>
              <a:t> from scratch.</a:t>
            </a:r>
            <a:endParaRPr/>
          </a:p>
        </p:txBody>
      </p:sp>
      <p:sp>
        <p:nvSpPr>
          <p:cNvPr id="144" name="Google Shape;144;p18"/>
          <p:cNvSpPr txBox="1"/>
          <p:nvPr/>
        </p:nvSpPr>
        <p:spPr>
          <a:xfrm>
            <a:off x="742950" y="2219325"/>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Roboto"/>
                <a:ea typeface="Roboto"/>
                <a:cs typeface="Roboto"/>
                <a:sym typeface="Roboto"/>
              </a:rPr>
              <a:t>•</a:t>
            </a:r>
            <a:endParaRPr/>
          </a:p>
        </p:txBody>
      </p:sp>
      <p:sp>
        <p:nvSpPr>
          <p:cNvPr id="145" name="Google Shape;145;p18"/>
          <p:cNvSpPr txBox="1"/>
          <p:nvPr/>
        </p:nvSpPr>
        <p:spPr>
          <a:xfrm>
            <a:off x="809625" y="2219325"/>
            <a:ext cx="5048250"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Roboto"/>
                <a:ea typeface="Roboto"/>
                <a:cs typeface="Roboto"/>
                <a:sym typeface="Roboto"/>
              </a:rPr>
              <a:t>Residual Shortcuts:</a:t>
            </a:r>
            <a:r>
              <a:rPr b="0" i="0" lang="en-US" sz="1500" u="none" cap="none" strike="noStrike">
                <a:solidFill>
                  <a:srgbClr val="334155"/>
                </a:solidFill>
                <a:latin typeface="Roboto"/>
                <a:ea typeface="Roboto"/>
                <a:cs typeface="Roboto"/>
                <a:sym typeface="Roboto"/>
              </a:rPr>
              <a:t> Allows deeper network training without the vanishing gradient problem.</a:t>
            </a:r>
            <a:endParaRPr/>
          </a:p>
        </p:txBody>
      </p:sp>
      <p:sp>
        <p:nvSpPr>
          <p:cNvPr id="146" name="Google Shape;146;p18"/>
          <p:cNvSpPr txBox="1"/>
          <p:nvPr/>
        </p:nvSpPr>
        <p:spPr>
          <a:xfrm>
            <a:off x="742950" y="2828925"/>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Roboto"/>
                <a:ea typeface="Roboto"/>
                <a:cs typeface="Roboto"/>
                <a:sym typeface="Roboto"/>
              </a:rPr>
              <a:t>•</a:t>
            </a:r>
            <a:endParaRPr/>
          </a:p>
        </p:txBody>
      </p:sp>
      <p:sp>
        <p:nvSpPr>
          <p:cNvPr id="147" name="Google Shape;147;p18"/>
          <p:cNvSpPr txBox="1"/>
          <p:nvPr/>
        </p:nvSpPr>
        <p:spPr>
          <a:xfrm>
            <a:off x="809625" y="2828925"/>
            <a:ext cx="5048250" cy="9144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Roboto"/>
                <a:ea typeface="Roboto"/>
                <a:cs typeface="Roboto"/>
                <a:sym typeface="Roboto"/>
              </a:rPr>
              <a:t>Global Average Pooling:</a:t>
            </a:r>
            <a:r>
              <a:rPr b="0" i="0" lang="en-US" sz="1500" u="none" cap="none" strike="noStrike">
                <a:solidFill>
                  <a:srgbClr val="334155"/>
                </a:solidFill>
                <a:latin typeface="Roboto"/>
                <a:ea typeface="Roboto"/>
                <a:cs typeface="Roboto"/>
                <a:sym typeface="Roboto"/>
              </a:rPr>
              <a:t> Replaces fragile flattened fully-connected layers, significantly reducing parameters while maintaining spatial translation invariance.</a:t>
            </a:r>
            <a:endParaRPr/>
          </a:p>
        </p:txBody>
      </p:sp>
      <p:sp>
        <p:nvSpPr>
          <p:cNvPr id="148" name="Google Shape;148;p18"/>
          <p:cNvSpPr txBox="1"/>
          <p:nvPr/>
        </p:nvSpPr>
        <p:spPr>
          <a:xfrm>
            <a:off x="742950" y="3743325"/>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Roboto"/>
                <a:ea typeface="Roboto"/>
                <a:cs typeface="Roboto"/>
                <a:sym typeface="Roboto"/>
              </a:rPr>
              <a:t>•</a:t>
            </a:r>
            <a:endParaRPr/>
          </a:p>
        </p:txBody>
      </p:sp>
      <p:sp>
        <p:nvSpPr>
          <p:cNvPr id="149" name="Google Shape;149;p18"/>
          <p:cNvSpPr txBox="1"/>
          <p:nvPr/>
        </p:nvSpPr>
        <p:spPr>
          <a:xfrm>
            <a:off x="809625" y="3743325"/>
            <a:ext cx="5048250"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Roboto"/>
                <a:ea typeface="Roboto"/>
                <a:cs typeface="Roboto"/>
                <a:sym typeface="Roboto"/>
              </a:rPr>
              <a:t>Batch Normalization:</a:t>
            </a:r>
            <a:r>
              <a:rPr b="0" i="0" lang="en-US" sz="1500" u="none" cap="none" strike="noStrike">
                <a:solidFill>
                  <a:srgbClr val="334155"/>
                </a:solidFill>
                <a:latin typeface="Roboto"/>
                <a:ea typeface="Roboto"/>
                <a:cs typeface="Roboto"/>
                <a:sym typeface="Roboto"/>
              </a:rPr>
              <a:t> Applied after every 2D convolution to stabilize learning dynamics.</a:t>
            </a:r>
            <a:endParaRPr/>
          </a:p>
        </p:txBody>
      </p:sp>
      <p:pic>
        <p:nvPicPr>
          <p:cNvPr descr="image.png" id="150" name="Google Shape;150;p18"/>
          <p:cNvPicPr preferRelativeResize="0"/>
          <p:nvPr/>
        </p:nvPicPr>
        <p:blipFill rotWithShape="1">
          <a:blip r:embed="rId4">
            <a:alphaModFix/>
          </a:blip>
          <a:srcRect b="0" l="0" r="0" t="0"/>
          <a:stretch/>
        </p:blipFill>
        <p:spPr>
          <a:xfrm>
            <a:off x="6334125" y="1466850"/>
            <a:ext cx="5286375" cy="3810000"/>
          </a:xfrm>
          <a:prstGeom prst="rect">
            <a:avLst/>
          </a:prstGeom>
          <a:noFill/>
          <a:ln>
            <a:noFill/>
          </a:ln>
        </p:spPr>
      </p:pic>
      <p:sp>
        <p:nvSpPr>
          <p:cNvPr id="151" name="Google Shape;151;p18"/>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0F172A"/>
                </a:solidFill>
                <a:latin typeface="Inter ExtraBold"/>
                <a:ea typeface="Inter ExtraBold"/>
                <a:cs typeface="Inter ExtraBold"/>
                <a:sym typeface="Inter ExtraBold"/>
              </a:rPr>
              <a:t>Custom Audio ResNet Architecture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5" name="Shape 155"/>
        <p:cNvGrpSpPr/>
        <p:nvPr/>
      </p:nvGrpSpPr>
      <p:grpSpPr>
        <a:xfrm>
          <a:off x="0" y="0"/>
          <a:ext cx="0" cy="0"/>
          <a:chOff x="0" y="0"/>
          <a:chExt cx="0" cy="0"/>
        </a:xfrm>
      </p:grpSpPr>
      <p:sp>
        <p:nvSpPr>
          <p:cNvPr id="156" name="Google Shape;156;p19"/>
          <p:cNvSpPr txBox="1"/>
          <p:nvPr/>
        </p:nvSpPr>
        <p:spPr>
          <a:xfrm>
            <a:off x="1047750" y="1466850"/>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Roboto ExtraBold"/>
                <a:ea typeface="Roboto ExtraBold"/>
                <a:cs typeface="Roboto ExtraBold"/>
                <a:sym typeface="Roboto ExtraBold"/>
              </a:rPr>
              <a:t>Optimizer &amp; Scheduler:</a:t>
            </a:r>
            <a:r>
              <a:rPr b="0" i="0" lang="en-US" sz="1500" u="none" cap="none" strike="noStrike">
                <a:solidFill>
                  <a:srgbClr val="334155"/>
                </a:solidFill>
                <a:latin typeface="Roboto"/>
                <a:ea typeface="Roboto"/>
                <a:cs typeface="Roboto"/>
                <a:sym typeface="Roboto"/>
              </a:rPr>
              <a:t> We utilize the Adam Optimizer paired with a Cosine Annealing Learning Rate Scheduler to ensure smooth, optimal convergence without bouncing out of local minima.</a:t>
            </a:r>
            <a:endParaRPr/>
          </a:p>
        </p:txBody>
      </p:sp>
      <p:sp>
        <p:nvSpPr>
          <p:cNvPr id="157" name="Google Shape;157;p19"/>
          <p:cNvSpPr txBox="1"/>
          <p:nvPr/>
        </p:nvSpPr>
        <p:spPr>
          <a:xfrm>
            <a:off x="1047750" y="2314575"/>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Roboto ExtraBold"/>
                <a:ea typeface="Roboto ExtraBold"/>
                <a:cs typeface="Roboto ExtraBold"/>
                <a:sym typeface="Roboto ExtraBold"/>
              </a:rPr>
              <a:t>Label Smoothing:</a:t>
            </a:r>
            <a:r>
              <a:rPr b="0" i="0" lang="en-US" sz="1500" u="none" cap="none" strike="noStrike">
                <a:solidFill>
                  <a:srgbClr val="334155"/>
                </a:solidFill>
                <a:latin typeface="Roboto"/>
                <a:ea typeface="Roboto"/>
                <a:cs typeface="Roboto"/>
                <a:sym typeface="Roboto"/>
              </a:rPr>
              <a:t> Standard Cross-Entropy penalizes ambiguity. We inject Label Smoothing (0.1) to account for natural ambiguity in human speech and prevent model overconfidence on noisy labels.</a:t>
            </a:r>
            <a:endParaRPr/>
          </a:p>
        </p:txBody>
      </p:sp>
      <p:sp>
        <p:nvSpPr>
          <p:cNvPr id="158" name="Google Shape;158;p19"/>
          <p:cNvSpPr txBox="1"/>
          <p:nvPr/>
        </p:nvSpPr>
        <p:spPr>
          <a:xfrm>
            <a:off x="1047750" y="3162300"/>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Roboto ExtraBold"/>
                <a:ea typeface="Roboto ExtraBold"/>
                <a:cs typeface="Roboto ExtraBold"/>
                <a:sym typeface="Roboto ExtraBold"/>
              </a:rPr>
              <a:t>Mixup Augmentation:</a:t>
            </a:r>
            <a:r>
              <a:rPr b="0" i="0" lang="en-US" sz="1500" u="none" cap="none" strike="noStrike">
                <a:solidFill>
                  <a:srgbClr val="334155"/>
                </a:solidFill>
                <a:latin typeface="Roboto"/>
                <a:ea typeface="Roboto"/>
                <a:cs typeface="Roboto"/>
                <a:sym typeface="Roboto"/>
              </a:rPr>
              <a:t> We implemented dynamic Mixup within the training loop, blending pairs of audio spectrograms to force the model to create robust, linear decision boundaries between classes.</a:t>
            </a:r>
            <a:endParaRPr/>
          </a:p>
        </p:txBody>
      </p:sp>
      <p:sp>
        <p:nvSpPr>
          <p:cNvPr id="159" name="Google Shape;159;p19"/>
          <p:cNvSpPr txBox="1"/>
          <p:nvPr/>
        </p:nvSpPr>
        <p:spPr>
          <a:xfrm>
            <a:off x="1047750" y="4010025"/>
            <a:ext cx="904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0F172A"/>
                </a:solidFill>
                <a:latin typeface="Roboto ExtraBold"/>
                <a:ea typeface="Roboto ExtraBold"/>
                <a:cs typeface="Roboto ExtraBold"/>
                <a:sym typeface="Roboto ExtraBold"/>
              </a:rPr>
              <a:t>Weight Decay:</a:t>
            </a:r>
            <a:r>
              <a:rPr b="0" i="0" lang="en-US" sz="1500" u="none" cap="none" strike="noStrike">
                <a:solidFill>
                  <a:srgbClr val="334155"/>
                </a:solidFill>
                <a:latin typeface="Roboto"/>
                <a:ea typeface="Roboto"/>
                <a:cs typeface="Roboto"/>
                <a:sym typeface="Roboto"/>
              </a:rPr>
              <a:t> Applied precise L2 Regularization (Weight Decay: 1e-4) to heavily penalize unnecessary parameter complexity and prioritize generalization.</a:t>
            </a:r>
            <a:endParaRPr/>
          </a:p>
        </p:txBody>
      </p:sp>
      <p:pic>
        <p:nvPicPr>
          <p:cNvPr descr="image.png" id="160" name="Google Shape;160;p19"/>
          <p:cNvPicPr preferRelativeResize="0"/>
          <p:nvPr/>
        </p:nvPicPr>
        <p:blipFill rotWithShape="1">
          <a:blip r:embed="rId3">
            <a:alphaModFix/>
          </a:blip>
          <a:srcRect b="0" l="0" r="0" t="0"/>
          <a:stretch/>
        </p:blipFill>
        <p:spPr>
          <a:xfrm>
            <a:off x="571500" y="1481137"/>
            <a:ext cx="266700" cy="276225"/>
          </a:xfrm>
          <a:prstGeom prst="rect">
            <a:avLst/>
          </a:prstGeom>
          <a:noFill/>
          <a:ln>
            <a:noFill/>
          </a:ln>
        </p:spPr>
      </p:pic>
      <p:pic>
        <p:nvPicPr>
          <p:cNvPr descr="image.png" id="161" name="Google Shape;161;p19"/>
          <p:cNvPicPr preferRelativeResize="0"/>
          <p:nvPr/>
        </p:nvPicPr>
        <p:blipFill rotWithShape="1">
          <a:blip r:embed="rId4">
            <a:alphaModFix/>
          </a:blip>
          <a:srcRect b="0" l="0" r="0" t="0"/>
          <a:stretch/>
        </p:blipFill>
        <p:spPr>
          <a:xfrm>
            <a:off x="571500" y="2328862"/>
            <a:ext cx="266700" cy="276225"/>
          </a:xfrm>
          <a:prstGeom prst="rect">
            <a:avLst/>
          </a:prstGeom>
          <a:noFill/>
          <a:ln>
            <a:noFill/>
          </a:ln>
        </p:spPr>
      </p:pic>
      <p:pic>
        <p:nvPicPr>
          <p:cNvPr descr="image.png" id="162" name="Google Shape;162;p19"/>
          <p:cNvPicPr preferRelativeResize="0"/>
          <p:nvPr/>
        </p:nvPicPr>
        <p:blipFill rotWithShape="1">
          <a:blip r:embed="rId5">
            <a:alphaModFix/>
          </a:blip>
          <a:srcRect b="0" l="0" r="0" t="0"/>
          <a:stretch/>
        </p:blipFill>
        <p:spPr>
          <a:xfrm>
            <a:off x="571500" y="3176587"/>
            <a:ext cx="266700" cy="276225"/>
          </a:xfrm>
          <a:prstGeom prst="rect">
            <a:avLst/>
          </a:prstGeom>
          <a:noFill/>
          <a:ln>
            <a:noFill/>
          </a:ln>
        </p:spPr>
      </p:pic>
      <p:pic>
        <p:nvPicPr>
          <p:cNvPr descr="image.png" id="163" name="Google Shape;163;p19"/>
          <p:cNvPicPr preferRelativeResize="0"/>
          <p:nvPr/>
        </p:nvPicPr>
        <p:blipFill rotWithShape="1">
          <a:blip r:embed="rId6">
            <a:alphaModFix/>
          </a:blip>
          <a:srcRect b="0" l="0" r="0" t="0"/>
          <a:stretch/>
        </p:blipFill>
        <p:spPr>
          <a:xfrm>
            <a:off x="571500" y="4024312"/>
            <a:ext cx="266700" cy="276225"/>
          </a:xfrm>
          <a:prstGeom prst="rect">
            <a:avLst/>
          </a:prstGeom>
          <a:noFill/>
          <a:ln>
            <a:noFill/>
          </a:ln>
        </p:spPr>
      </p:pic>
      <p:sp>
        <p:nvSpPr>
          <p:cNvPr id="164" name="Google Shape;164;p19"/>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0F172A"/>
                </a:solidFill>
                <a:latin typeface="Inter ExtraBold"/>
                <a:ea typeface="Inter ExtraBold"/>
                <a:cs typeface="Inter ExtraBold"/>
                <a:sym typeface="Inter ExtraBold"/>
              </a:rPr>
              <a:t>Advanced Training Strategy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8" name="Shape 168"/>
        <p:cNvGrpSpPr/>
        <p:nvPr/>
      </p:nvGrpSpPr>
      <p:grpSpPr>
        <a:xfrm>
          <a:off x="0" y="0"/>
          <a:ext cx="0" cy="0"/>
          <a:chOff x="0" y="0"/>
          <a:chExt cx="0" cy="0"/>
        </a:xfrm>
      </p:grpSpPr>
      <p:pic>
        <p:nvPicPr>
          <p:cNvPr descr="image.png" id="169" name="Google Shape;169;p20"/>
          <p:cNvPicPr preferRelativeResize="0"/>
          <p:nvPr/>
        </p:nvPicPr>
        <p:blipFill rotWithShape="1">
          <a:blip r:embed="rId3">
            <a:alphaModFix/>
          </a:blip>
          <a:srcRect b="0" l="0" r="0" t="0"/>
          <a:stretch/>
        </p:blipFill>
        <p:spPr>
          <a:xfrm>
            <a:off x="571500" y="1466850"/>
            <a:ext cx="11049000" cy="4819650"/>
          </a:xfrm>
          <a:prstGeom prst="rect">
            <a:avLst/>
          </a:prstGeom>
          <a:noFill/>
          <a:ln>
            <a:noFill/>
          </a:ln>
        </p:spPr>
      </p:pic>
      <p:sp>
        <p:nvSpPr>
          <p:cNvPr id="170" name="Google Shape;170;p20"/>
          <p:cNvSpPr txBox="1"/>
          <p:nvPr/>
        </p:nvSpPr>
        <p:spPr>
          <a:xfrm>
            <a:off x="571500" y="4848225"/>
            <a:ext cx="10496550" cy="619125"/>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500" u="none" cap="none" strike="noStrike">
                <a:solidFill>
                  <a:srgbClr val="334155"/>
                </a:solidFill>
                <a:latin typeface="Roboto"/>
                <a:ea typeface="Roboto"/>
                <a:cs typeface="Roboto"/>
                <a:sym typeface="Roboto"/>
              </a:rPr>
              <a:t>The incremental addition of residual connections and advanced data augmentations (SpecAugment, Mixup, Label Smoothing) pushed our model's Macro F1 score from a baseline 0.85 to near-perfect acoustic classification.</a:t>
            </a:r>
            <a:endParaRPr/>
          </a:p>
        </p:txBody>
      </p:sp>
      <p:sp>
        <p:nvSpPr>
          <p:cNvPr id="171" name="Google Shape;171;p20"/>
          <p:cNvSpPr/>
          <p:nvPr/>
        </p:nvSpPr>
        <p:spPr>
          <a:xfrm>
            <a:off x="571500" y="4657725"/>
            <a:ext cx="10496550"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20"/>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0F172A"/>
                </a:solidFill>
                <a:latin typeface="Inter ExtraBold"/>
                <a:ea typeface="Inter ExtraBold"/>
                <a:cs typeface="Inter ExtraBold"/>
                <a:sym typeface="Inter ExtraBold"/>
              </a:rPr>
              <a:t>Ablation Study: Architecture Evolution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6" name="Shape 176"/>
        <p:cNvGrpSpPr/>
        <p:nvPr/>
      </p:nvGrpSpPr>
      <p:grpSpPr>
        <a:xfrm>
          <a:off x="0" y="0"/>
          <a:ext cx="0" cy="0"/>
          <a:chOff x="0" y="0"/>
          <a:chExt cx="0" cy="0"/>
        </a:xfrm>
      </p:grpSpPr>
      <p:pic>
        <p:nvPicPr>
          <p:cNvPr descr="image.png" id="177" name="Google Shape;177;p21"/>
          <p:cNvPicPr preferRelativeResize="0"/>
          <p:nvPr/>
        </p:nvPicPr>
        <p:blipFill rotWithShape="1">
          <a:blip r:embed="rId3">
            <a:alphaModFix/>
          </a:blip>
          <a:srcRect b="0" l="0" r="0" t="0"/>
          <a:stretch/>
        </p:blipFill>
        <p:spPr>
          <a:xfrm>
            <a:off x="6334125" y="3933825"/>
            <a:ext cx="5212109" cy="619125"/>
          </a:xfrm>
          <a:prstGeom prst="rect">
            <a:avLst/>
          </a:prstGeom>
          <a:noFill/>
          <a:ln>
            <a:noFill/>
          </a:ln>
        </p:spPr>
      </p:pic>
      <p:sp>
        <p:nvSpPr>
          <p:cNvPr id="178" name="Google Shape;178;p21"/>
          <p:cNvSpPr txBox="1"/>
          <p:nvPr/>
        </p:nvSpPr>
        <p:spPr>
          <a:xfrm>
            <a:off x="571500" y="2043112"/>
            <a:ext cx="5286375" cy="152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2000" u="none" cap="none" strike="noStrike">
                <a:solidFill>
                  <a:srgbClr val="3B82F6"/>
                </a:solidFill>
                <a:latin typeface="Inter ExtraBold"/>
                <a:ea typeface="Inter ExtraBold"/>
                <a:cs typeface="Inter ExtraBold"/>
                <a:sym typeface="Inter ExtraBold"/>
              </a:rPr>
              <a:t>0.99</a:t>
            </a:r>
            <a:endParaRPr/>
          </a:p>
        </p:txBody>
      </p:sp>
      <p:sp>
        <p:nvSpPr>
          <p:cNvPr id="179" name="Google Shape;179;p21"/>
          <p:cNvSpPr txBox="1"/>
          <p:nvPr/>
        </p:nvSpPr>
        <p:spPr>
          <a:xfrm>
            <a:off x="571500" y="3662362"/>
            <a:ext cx="5286375" cy="314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0F172A"/>
                </a:solidFill>
                <a:latin typeface="Roboto SemiBold"/>
                <a:ea typeface="Roboto SemiBold"/>
                <a:cs typeface="Roboto SemiBold"/>
                <a:sym typeface="Roboto SemiBold"/>
              </a:rPr>
              <a:t>Validation Macro F1</a:t>
            </a:r>
            <a:endParaRPr/>
          </a:p>
        </p:txBody>
      </p:sp>
      <p:sp>
        <p:nvSpPr>
          <p:cNvPr id="180" name="Google Shape;180;p21"/>
          <p:cNvSpPr txBox="1"/>
          <p:nvPr/>
        </p:nvSpPr>
        <p:spPr>
          <a:xfrm>
            <a:off x="6334125" y="1466850"/>
            <a:ext cx="5550693"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E293B"/>
                </a:solidFill>
                <a:latin typeface="Inter SemiBold"/>
                <a:ea typeface="Inter SemiBold"/>
                <a:cs typeface="Inter SemiBold"/>
                <a:sym typeface="Inter SemiBold"/>
              </a:rPr>
              <a:t>State-of-the-Art Execution</a:t>
            </a:r>
            <a:endParaRPr/>
          </a:p>
        </p:txBody>
      </p:sp>
      <p:sp>
        <p:nvSpPr>
          <p:cNvPr id="181" name="Google Shape;181;p21"/>
          <p:cNvSpPr txBox="1"/>
          <p:nvPr/>
        </p:nvSpPr>
        <p:spPr>
          <a:xfrm>
            <a:off x="6334125" y="1981200"/>
            <a:ext cx="5286375"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Roboto"/>
                <a:ea typeface="Roboto"/>
                <a:cs typeface="Roboto"/>
                <a:sym typeface="Roboto"/>
              </a:rPr>
              <a:t>Our final submission achieves exceptional classification performance on unseen audio data. By focusing intensely on robust feature extraction rather than model size, we completely satisfied EE708 constraints—utilizing zero pretrained weights and zero external data.</a:t>
            </a:r>
            <a:endParaRPr/>
          </a:p>
        </p:txBody>
      </p:sp>
      <p:pic>
        <p:nvPicPr>
          <p:cNvPr descr="image.png" id="182" name="Google Shape;182;p21"/>
          <p:cNvPicPr preferRelativeResize="0"/>
          <p:nvPr/>
        </p:nvPicPr>
        <p:blipFill rotWithShape="1">
          <a:blip r:embed="rId4">
            <a:alphaModFix/>
          </a:blip>
          <a:srcRect b="0" l="0" r="0" t="0"/>
          <a:stretch/>
        </p:blipFill>
        <p:spPr>
          <a:xfrm>
            <a:off x="6667500" y="4171950"/>
            <a:ext cx="4592984" cy="190500"/>
          </a:xfrm>
          <a:prstGeom prst="rect">
            <a:avLst/>
          </a:prstGeom>
          <a:noFill/>
          <a:ln>
            <a:noFill/>
          </a:ln>
        </p:spPr>
      </p:pic>
      <p:sp>
        <p:nvSpPr>
          <p:cNvPr id="183" name="Google Shape;183;p21"/>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0F172A"/>
                </a:solidFill>
                <a:latin typeface="Inter ExtraBold"/>
                <a:ea typeface="Inter ExtraBold"/>
                <a:cs typeface="Inter ExtraBold"/>
                <a:sym typeface="Inter ExtraBold"/>
              </a:rPr>
              <a:t>Final Performance &amp; Results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87" name="Shape 187"/>
        <p:cNvGrpSpPr/>
        <p:nvPr/>
      </p:nvGrpSpPr>
      <p:grpSpPr>
        <a:xfrm>
          <a:off x="0" y="0"/>
          <a:ext cx="0" cy="0"/>
          <a:chOff x="0" y="0"/>
          <a:chExt cx="0" cy="0"/>
        </a:xfrm>
      </p:grpSpPr>
      <p:sp>
        <p:nvSpPr>
          <p:cNvPr id="188" name="Google Shape;188;p22"/>
          <p:cNvSpPr txBox="1"/>
          <p:nvPr/>
        </p:nvSpPr>
        <p:spPr>
          <a:xfrm>
            <a:off x="295275" y="2229742"/>
            <a:ext cx="11601450" cy="1038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6750" u="none" cap="none" strike="noStrike">
                <a:solidFill>
                  <a:srgbClr val="F8FAFC"/>
                </a:solidFill>
                <a:latin typeface="Inter ExtraBold"/>
                <a:ea typeface="Inter ExtraBold"/>
                <a:cs typeface="Inter ExtraBold"/>
                <a:sym typeface="Inter ExtraBold"/>
              </a:rPr>
              <a:t>Questions?</a:t>
            </a:r>
            <a:endParaRPr/>
          </a:p>
        </p:txBody>
      </p:sp>
      <p:sp>
        <p:nvSpPr>
          <p:cNvPr id="189" name="Google Shape;189;p22"/>
          <p:cNvSpPr txBox="1"/>
          <p:nvPr/>
        </p:nvSpPr>
        <p:spPr>
          <a:xfrm>
            <a:off x="571500" y="3458467"/>
            <a:ext cx="11049000" cy="42669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94A3B8"/>
                </a:solidFill>
                <a:latin typeface="Roboto"/>
                <a:ea typeface="Roboto"/>
                <a:cs typeface="Roboto"/>
                <a:sym typeface="Roboto"/>
              </a:rPr>
              <a:t>End-to-End Pipeline Ownership. Group 5 is ready for your questions.</a:t>
            </a:r>
            <a:endParaRPr/>
          </a:p>
        </p:txBody>
      </p:sp>
      <p:sp>
        <p:nvSpPr>
          <p:cNvPr id="190" name="Google Shape;190;p22"/>
          <p:cNvSpPr txBox="1"/>
          <p:nvPr/>
        </p:nvSpPr>
        <p:spPr>
          <a:xfrm>
            <a:off x="571500" y="4361408"/>
            <a:ext cx="11049000"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3B82F6"/>
                </a:solidFill>
                <a:latin typeface="Roboto Medium"/>
                <a:ea typeface="Roboto Medium"/>
                <a:cs typeface="Roboto Medium"/>
                <a:sym typeface="Roboto Medium"/>
              </a:rPr>
              <a:t>EE708 Term Project | Kanpur, India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4" name="Shape 194"/>
        <p:cNvGrpSpPr/>
        <p:nvPr/>
      </p:nvGrpSpPr>
      <p:grpSpPr>
        <a:xfrm>
          <a:off x="0" y="0"/>
          <a:ext cx="0" cy="0"/>
          <a:chOff x="0" y="0"/>
          <a:chExt cx="0" cy="0"/>
        </a:xfrm>
      </p:grpSpPr>
      <p:sp>
        <p:nvSpPr>
          <p:cNvPr id="195" name="Google Shape;195;p23"/>
          <p:cNvSpPr/>
          <p:nvPr/>
        </p:nvSpPr>
        <p:spPr>
          <a:xfrm>
            <a:off x="571500" y="1466850"/>
            <a:ext cx="11049000" cy="9828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23"/>
          <p:cNvSpPr/>
          <p:nvPr/>
        </p:nvSpPr>
        <p:spPr>
          <a:xfrm>
            <a:off x="571500" y="2449710"/>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23"/>
          <p:cNvSpPr/>
          <p:nvPr/>
        </p:nvSpPr>
        <p:spPr>
          <a:xfrm>
            <a:off x="571500" y="244018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23"/>
          <p:cNvSpPr/>
          <p:nvPr/>
        </p:nvSpPr>
        <p:spPr>
          <a:xfrm>
            <a:off x="571500" y="244018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23"/>
          <p:cNvSpPr/>
          <p:nvPr/>
        </p:nvSpPr>
        <p:spPr>
          <a:xfrm>
            <a:off x="571500" y="3224956"/>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23"/>
          <p:cNvSpPr/>
          <p:nvPr/>
        </p:nvSpPr>
        <p:spPr>
          <a:xfrm>
            <a:off x="571500" y="3224956"/>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01" name="Google Shape;201;p23"/>
          <p:cNvPicPr preferRelativeResize="0"/>
          <p:nvPr/>
        </p:nvPicPr>
        <p:blipFill rotWithShape="1">
          <a:blip r:embed="rId3">
            <a:alphaModFix/>
          </a:blip>
          <a:srcRect b="0" l="0" r="0" t="0"/>
          <a:stretch/>
        </p:blipFill>
        <p:spPr>
          <a:xfrm>
            <a:off x="571500" y="1715392"/>
            <a:ext cx="857250" cy="476250"/>
          </a:xfrm>
          <a:prstGeom prst="rect">
            <a:avLst/>
          </a:prstGeom>
          <a:noFill/>
          <a:ln>
            <a:noFill/>
          </a:ln>
        </p:spPr>
      </p:pic>
      <p:sp>
        <p:nvSpPr>
          <p:cNvPr id="202" name="Google Shape;202;p23"/>
          <p:cNvSpPr txBox="1"/>
          <p:nvPr/>
        </p:nvSpPr>
        <p:spPr>
          <a:xfrm>
            <a:off x="1666875" y="1609725"/>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34155"/>
                </a:solidFill>
                <a:latin typeface="Roboto"/>
                <a:ea typeface="Roboto"/>
                <a:cs typeface="Roboto"/>
                <a:sym typeface="Roboto"/>
              </a:rPr>
              <a:t>https://elements-resized.envatousercontent.com/elements-video-cover-images/bc31b948-3bfa-4c68-80f0-2afac3b60413/video_preview/video_preview_0002.jpg?w=500&amp;cf_fit=cover&amp;q=85&amp;format=auto&amp;s=4d7bb4ae94f21485f77d89057fe6c30761282b917cf6f938a793b77db9ff22cc</a:t>
            </a:r>
            <a:endParaRPr/>
          </a:p>
        </p:txBody>
      </p:sp>
      <p:sp>
        <p:nvSpPr>
          <p:cNvPr id="203" name="Google Shape;203;p23"/>
          <p:cNvSpPr txBox="1"/>
          <p:nvPr/>
        </p:nvSpPr>
        <p:spPr>
          <a:xfrm>
            <a:off x="1666875" y="2053530"/>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4155"/>
                </a:solidFill>
                <a:latin typeface="Roboto"/>
                <a:ea typeface="Roboto"/>
                <a:cs typeface="Roboto"/>
                <a:sym typeface="Roboto"/>
              </a:rPr>
              <a:t>Source: </a:t>
            </a:r>
            <a:r>
              <a:rPr b="0" i="0" lang="en-US" sz="1200" u="none" cap="none" strike="noStrike">
                <a:solidFill>
                  <a:srgbClr val="4F46E5"/>
                </a:solidFill>
                <a:latin typeface="Roboto"/>
                <a:ea typeface="Roboto"/>
                <a:cs typeface="Roboto"/>
                <a:sym typeface="Roboto"/>
              </a:rPr>
              <a:t>elements.envato.com</a:t>
            </a:r>
            <a:endParaRPr/>
          </a:p>
        </p:txBody>
      </p:sp>
      <p:pic>
        <p:nvPicPr>
          <p:cNvPr descr="image.png" id="204" name="Google Shape;204;p23"/>
          <p:cNvPicPr preferRelativeResize="0"/>
          <p:nvPr/>
        </p:nvPicPr>
        <p:blipFill rotWithShape="1">
          <a:blip r:embed="rId4">
            <a:alphaModFix/>
          </a:blip>
          <a:srcRect b="0" l="0" r="0" t="0"/>
          <a:stretch/>
        </p:blipFill>
        <p:spPr>
          <a:xfrm>
            <a:off x="571500" y="2599134"/>
            <a:ext cx="857250" cy="476250"/>
          </a:xfrm>
          <a:prstGeom prst="rect">
            <a:avLst/>
          </a:prstGeom>
          <a:noFill/>
          <a:ln>
            <a:noFill/>
          </a:ln>
        </p:spPr>
      </p:pic>
      <p:sp>
        <p:nvSpPr>
          <p:cNvPr id="205" name="Google Shape;205;p23"/>
          <p:cNvSpPr txBox="1"/>
          <p:nvPr/>
        </p:nvSpPr>
        <p:spPr>
          <a:xfrm>
            <a:off x="1666875" y="2592585"/>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34155"/>
                </a:solidFill>
                <a:latin typeface="Roboto"/>
                <a:ea typeface="Roboto"/>
                <a:cs typeface="Roboto"/>
                <a:sym typeface="Roboto"/>
              </a:rPr>
              <a:t>https://miro.medium.com/v2/resize:fit:1080/1*KoXWCAyudh0AIe0HlLeeNw.png</a:t>
            </a:r>
            <a:endParaRPr/>
          </a:p>
        </p:txBody>
      </p:sp>
      <p:sp>
        <p:nvSpPr>
          <p:cNvPr id="206" name="Google Shape;206;p23"/>
          <p:cNvSpPr txBox="1"/>
          <p:nvPr/>
        </p:nvSpPr>
        <p:spPr>
          <a:xfrm>
            <a:off x="1666875" y="2838301"/>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4155"/>
                </a:solidFill>
                <a:latin typeface="Roboto"/>
                <a:ea typeface="Roboto"/>
                <a:cs typeface="Roboto"/>
                <a:sym typeface="Roboto"/>
              </a:rPr>
              <a:t>Source: </a:t>
            </a:r>
            <a:r>
              <a:rPr b="0" i="0" lang="en-US" sz="1200" u="none" cap="none" strike="noStrike">
                <a:solidFill>
                  <a:srgbClr val="4F46E5"/>
                </a:solidFill>
                <a:latin typeface="Roboto"/>
                <a:ea typeface="Roboto"/>
                <a:cs typeface="Roboto"/>
                <a:sym typeface="Roboto"/>
              </a:rPr>
              <a:t>medium.com</a:t>
            </a:r>
            <a:endParaRPr/>
          </a:p>
        </p:txBody>
      </p:sp>
      <p:pic>
        <p:nvPicPr>
          <p:cNvPr descr="image.png" id="207" name="Google Shape;207;p23"/>
          <p:cNvPicPr preferRelativeResize="0"/>
          <p:nvPr/>
        </p:nvPicPr>
        <p:blipFill rotWithShape="1">
          <a:blip r:embed="rId5">
            <a:alphaModFix/>
          </a:blip>
          <a:srcRect b="0" l="0" r="0" t="0"/>
          <a:stretch/>
        </p:blipFill>
        <p:spPr>
          <a:xfrm>
            <a:off x="571500" y="3383905"/>
            <a:ext cx="857250" cy="476250"/>
          </a:xfrm>
          <a:prstGeom prst="rect">
            <a:avLst/>
          </a:prstGeom>
          <a:noFill/>
          <a:ln>
            <a:noFill/>
          </a:ln>
        </p:spPr>
      </p:pic>
      <p:sp>
        <p:nvSpPr>
          <p:cNvPr id="208" name="Google Shape;208;p23"/>
          <p:cNvSpPr txBox="1"/>
          <p:nvPr/>
        </p:nvSpPr>
        <p:spPr>
          <a:xfrm>
            <a:off x="1666875" y="3377356"/>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334155"/>
                </a:solidFill>
                <a:latin typeface="Roboto"/>
                <a:ea typeface="Roboto"/>
                <a:cs typeface="Roboto"/>
                <a:sym typeface="Roboto"/>
              </a:rPr>
              <a:t>https://media.easy-peasy.ai/766d00a0-4ce3-4b53-803e-5d357ab72326/f5636542-52e0-46b8-bb4e-a0aa73a84a7a.png</a:t>
            </a:r>
            <a:endParaRPr/>
          </a:p>
        </p:txBody>
      </p:sp>
      <p:sp>
        <p:nvSpPr>
          <p:cNvPr id="209" name="Google Shape;209;p23"/>
          <p:cNvSpPr txBox="1"/>
          <p:nvPr/>
        </p:nvSpPr>
        <p:spPr>
          <a:xfrm>
            <a:off x="1666875" y="3623071"/>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4155"/>
                </a:solidFill>
                <a:latin typeface="Roboto"/>
                <a:ea typeface="Roboto"/>
                <a:cs typeface="Roboto"/>
                <a:sym typeface="Roboto"/>
              </a:rPr>
              <a:t>Source: </a:t>
            </a:r>
            <a:r>
              <a:rPr b="0" i="0" lang="en-US" sz="1200" u="none" cap="none" strike="noStrike">
                <a:solidFill>
                  <a:srgbClr val="4F46E5"/>
                </a:solidFill>
                <a:latin typeface="Roboto"/>
                <a:ea typeface="Roboto"/>
                <a:cs typeface="Roboto"/>
                <a:sym typeface="Roboto"/>
              </a:rPr>
              <a:t>easy-peasy.ai</a:t>
            </a:r>
            <a:endParaRPr/>
          </a:p>
        </p:txBody>
      </p:sp>
      <p:sp>
        <p:nvSpPr>
          <p:cNvPr id="210" name="Google Shape;210;p23"/>
          <p:cNvSpPr txBox="1"/>
          <p:nvPr/>
        </p:nvSpPr>
        <p:spPr>
          <a:xfrm>
            <a:off x="571500" y="571500"/>
            <a:ext cx="1160145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300" u="none" cap="none" strike="noStrike">
                <a:solidFill>
                  <a:srgbClr val="0F172A"/>
                </a:solidFill>
                <a:latin typeface="Inter ExtraBold"/>
                <a:ea typeface="Inter ExtraBold"/>
                <a:cs typeface="Inter ExtraBold"/>
                <a:sym typeface="Inter ExtraBold"/>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